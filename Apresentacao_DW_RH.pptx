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Folha total (índice)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</c:v>
                  </c:pt>
                  <c:pt idx="1">
                    <c:v>NY</c:v>
                  </c:pt>
                  <c:pt idx="2">
                    <c:v>TX</c:v>
                  </c:pt>
                  <c:pt idx="3">
                    <c:v>FL</c:v>
                  </c:pt>
                  <c:pt idx="4">
                    <c:v>IL</c:v>
                  </c:pt>
                  <c:pt idx="5">
                    <c:v>PA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88</c:v>
                </c:pt>
                <c:pt idx="2">
                  <c:v>82</c:v>
                </c:pt>
                <c:pt idx="3">
                  <c:v>61</c:v>
                </c:pt>
                <c:pt idx="4">
                  <c:v>52</c:v>
                </c:pt>
                <c:pt idx="5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2A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1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D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1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Gênero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A43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Masculino</c:v>
                </c:pt>
                <c:pt idx="1">
                  <c:v>Feminino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</c:v>
                </c:pt>
                <c:pt idx="1">
                  <c:v>49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EAF2F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Funcionários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56-65</c:v>
                  </c:pt>
                  <c:pt idx="5">
                    <c:v>&gt;65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24</c:v>
                </c:pt>
                <c:pt idx="2">
                  <c:v>31</c:v>
                </c:pt>
                <c:pt idx="3">
                  <c:v>21</c:v>
                </c:pt>
                <c:pt idx="4">
                  <c:v>12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E71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D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Admissões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24</c:v>
                </c:pt>
                <c:pt idx="2">
                  <c:v>21</c:v>
                </c:pt>
                <c:pt idx="3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2A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1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D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tema: construímos um Data Warehouse de RH a partir de uma base real de 1 milhão de funcionários, usando PostgreSQL para o backend e Power BI para a camada de visualização. Apresentar o grupo rapidamente 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blocos. A ideia da apresentação é seguir o fluxo do dado: começamos pelo problema de negócio, vemos a fonte, a modelagem dimensional, o ETL que trata os dados, o data mart que serve o BI, o dashboard e por fim os insights que tudo isso gera.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central: como pegar dados transacionais de RH — cadastros, folha, histórico de admissão — que vêm bagunçados e em texto, e transformar em indicadores que a diretoria consegue consumir. E fazer isso servindo três níveis de acesso diferentes. Esse é o problema que o projeto resolve de ponta a 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é o Hr1m.csv do Kaggle: 1 milhão de funcionários nos EUA, 37 colunas. Escolhemos dado real de propósito — o enunciado exige, e além disso uma base real traz a sujeira de verdade: datas em texto, percentual com símbolo de %, cidades com o mesmo nome em estados diferentes. Isso justifica todo o trabalho de ETL que vem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Coração do projeto. Modelo estrela: a fato_rh no centro com grão de um funcionário, cercada por sete dimensões. Na geografia aplicamos snowflake — localização aponta para estado, que aponta para país. Repare nas duas dim_tempo: é a mesma tabela usada duas vezes, para admissão e nascimento — isso é role-playing. E o emp_id fica direto na fato, como dimensão degenerada. Já são quatro conceitos avançados, que detalho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conceitos avançados. Enriquecida: a dimensão tempo não guarda só a data, mas todo o calendário pré-calculado. Role-playing: a mesma tabela tempo entra duas vezes na fato. Snowflake: a geografia é normalizada em três níveis. E degenerada: o emp_id mora na própria fato. Detalhe importante para a defesa: o enunciado pedia no mínimo dois conceitos, e entregamos quatro.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dado flui da esquerda para a direita. Entra cru no repositorio como texto puro. O ETL trata e leva para o dw, o modelo estrela. O datamart achata isso em views amigáveis para o Power BI. E a camada security, que nem era exigida, controla o que cada perfil enxerga. Quatro camadas, cada uma com um papel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ETL é um script SQL único e versionável. Os destaques: padronizamos texto, convertemos tipos, limpamos o percentual que vinha como '21%', tratamos duplicatas com GROUP BY, e resolvemos as cidades homônimas com chave composta cidade+estado. As faixas etária e salarial são atribuídas por JOIN com BETWEEN. E o script todo é idempotente: começa derrubando os schemas, então pode rodar de novo sem bagunçar nada — muito útil em ambiente acadêmico.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datamart é o que o Power BI realmente enxerga — não o dw direto. Entregamos quatro views, embora o mínimo fosse uma. A principal é a vw_fato_rh, achatada, que vira a tabela fato no BI. As outras três já trazem agregações prontas. A decisão de achatar foi consciente: reduz relacionamentos no Power BI, melhora performance e simplifica o DAX.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Power BI conecta no PostgreSQL pelo conector nativo e puxa as quatro views. Criamos doze medidas DAX — o enunciado pedia dez. Um ponto técnico que vale mencionar na defesa: o role-playing das duas datas precisou de USERELATIONSHIP no DAX, porque o Power BI não deixa duas tabelas se relacionarem com a mesma dimensão por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dashboard tem cinco páginas navegáveis: Visão Geral com os KPIs principais, Geografia com o ranking de estados, Demografia cruzando idade e gênero, Evolução Temporal das admissões, e uma página Sobre. Todas as visualizações que o enunciado exige estão lá: linha temporal, barras, donut, matrizes 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Primeiros insights. Geografia: a folha total se concentra em CA, NY e TX — mas atenção, isso é volume de gente, não salário mais alto. O salário médio é bem mais equilibrado entre regiões. Gênero: o quadro é equilibrado, mas aparece uma leve diferença salarial quando controlamos por faixa etária — num projeto real isso seria gatilho para investigar equidade. Deixo claro que os números dos gráficos são ilustrativos dos padrões.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Mais insights. Demografia: a faixa de 36 a 45 anos é a mais cheia, mas quem ganha mais em média são as faixas mais velhas, 46-55 e 56-65 — confirma a relação entre tempo de carreira e salário. Sazonalidade: o primeiro trimestre puxa as admissões, comportamento típico de empresa que planeja headcount no início do ano. E o tempo de empresa mostra retenção saudável, com uma cauda longa de gente com mais de vinte anos de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O projeto entrega tudo que o enunciado pede e excede os mínimos em todas as frentes: sete dimensões, quatro conceitos avançados, quatro views, doze KPIs, mais uma camada de segurança que nem era exigida. A arquitetura em quatro schemas e o script idempotente deixam tudo reprodutível. Encerrar agradecendo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1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6.png"/><Relationship Id="rId8" Type="http://schemas.openxmlformats.org/officeDocument/2006/relationships/image" Target="../media/image-11-6.png"/><Relationship Id="rId9" Type="http://schemas.openxmlformats.org/officeDocument/2006/relationships/image" Target="../media/image-11-6.png"/><Relationship Id="rId10" Type="http://schemas.openxmlformats.org/officeDocument/2006/relationships/image" Target="../media/image-11-6.png"/><Relationship Id="rId11" Type="http://schemas.openxmlformats.org/officeDocument/2006/relationships/image" Target="../media/image-11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1639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640080"/>
            <a:ext cx="2194560" cy="219456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6395B"/>
          </a:solidFill>
          <a:ln/>
        </p:spPr>
      </p:sp>
      <p:sp>
        <p:nvSpPr>
          <p:cNvPr id="5" name="Shape 3"/>
          <p:cNvSpPr/>
          <p:nvPr/>
        </p:nvSpPr>
        <p:spPr>
          <a:xfrm>
            <a:off x="-640080" y="5394960"/>
            <a:ext cx="1828800" cy="182880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BUSINESS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de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Humanos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</a:t>
            </a:r>
            <a:pPr indent="0" marL="0">
              <a:buNone/>
            </a:pPr>
            <a:r>
              <a:rPr lang="en-US" sz="18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ETL em SQL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4069080"/>
            <a:ext cx="2011680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245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 de registros de funcionários · 7 dimensões · 4 camadas analíticas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Francisco — 22408417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Vargas — 22404088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Rebello — 22405550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5029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CEUB — Centro Universitário de Brasília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— Turma A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José Antônio de Paiva Júnior · Brasília, jun.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apresentação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problema de negócio ao dashboard, passando pela engenharia de dados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385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do problema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9385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78040" y="1783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dos dados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296265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962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280720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 Data Warehouse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263640" y="2807208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296265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2962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178040" y="280720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ETL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3831336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3986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986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17320" y="383133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263640" y="3831336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3986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3986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178040" y="383133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502920" y="4855464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" y="50109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5010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417320" y="485546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gerados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pic>
        <p:nvPicPr>
          <p:cNvPr id="4" name="Image 0" descr="ic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do problema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 transacional de RH em indicador estratégico para a diretoria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943600" cy="4617720"/>
          </a:xfrm>
          <a:prstGeom prst="roundRect">
            <a:avLst>
              <a:gd name="adj" fmla="val 1584"/>
            </a:avLst>
          </a:prstGeom>
          <a:solidFill>
            <a:srgbClr val="EAF2F6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627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084832"/>
            <a:ext cx="5440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 dezenas de milhares de colaboradores espalhados por dezenas de estados.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dispersos em sistemas operacionais, com formatos inconsistentes e tudo armazenado como texto.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estrutura analítica que permita à diretoria enxergar folha, demografia e distribuição geográfica.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servir três perfis distintos: funcionário, equipe de RH e diretoria.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29400" y="1417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0" y="166420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1664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52360" y="1527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452360" y="18379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Próprio funcionário — acesso restrito aos seus dados básicos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6629400" y="24414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0" y="2688336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452360" y="25511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Tático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452360" y="2862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RH — salários e indicadores agregados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6629400" y="346557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0" y="3712464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3712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452360" y="35753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45236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— visão completa para tomada de decisão</a:t>
            </a:r>
            <a:endParaRPr lang="en-US" sz="1180" dirty="0"/>
          </a:p>
        </p:txBody>
      </p:sp>
      <p:sp>
        <p:nvSpPr>
          <p:cNvPr id="27" name="Shape 24"/>
          <p:cNvSpPr/>
          <p:nvPr/>
        </p:nvSpPr>
        <p:spPr>
          <a:xfrm>
            <a:off x="6629400" y="4489704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858000" y="46177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analítica que: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0" y="496519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absorve o dado bruto sem perda  ·  trata e organiza em modelo dimensional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camadas por perfil de usuário  ·  entrega um dashboard claro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pic>
        <p:nvPicPr>
          <p:cNvPr id="4" name="Image 0" descr="ic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dos dados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público e real do Kaggle — requisito obrigatório do enunciado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591056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1.000.000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02920" y="23774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funcionários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28416" y="14630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28416" y="1591056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328416" y="23774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no arquivo bruto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53912" y="14630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53912" y="1591056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265 MB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153912" y="23774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Hr1m.csv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979408" y="14630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79408" y="1591056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EUA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8979408" y="237744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abrangência geográfica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3154680"/>
            <a:ext cx="6492240" cy="2880360"/>
          </a:xfrm>
          <a:prstGeom prst="roundRect">
            <a:avLst>
              <a:gd name="adj" fmla="val 2540"/>
            </a:avLst>
          </a:prstGeom>
          <a:solidFill>
            <a:srgbClr val="EAF2F6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334670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as 37 colunas cobrem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" y="380390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1"/>
          <p:cNvSpPr/>
          <p:nvPr/>
        </p:nvSpPr>
        <p:spPr>
          <a:xfrm>
            <a:off x="1078992" y="371246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pessoal: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prefixo, e-mail, SSN, telefone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" y="424281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1078992" y="415137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Nascimento: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hora, idade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2960" y="468172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5"/>
          <p:cNvSpPr/>
          <p:nvPr/>
        </p:nvSpPr>
        <p:spPr>
          <a:xfrm>
            <a:off x="1078992" y="45902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Admissão: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ano, trimestre, dia da semana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22960" y="51206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/>
          <p:nvPr/>
        </p:nvSpPr>
        <p:spPr>
          <a:xfrm>
            <a:off x="1078992" y="50292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Profissional: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salário, % do último aumento, tempo de empresa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22960" y="55595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9"/>
          <p:cNvSpPr/>
          <p:nvPr/>
        </p:nvSpPr>
        <p:spPr>
          <a:xfrm>
            <a:off x="1078992" y="546811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Localização: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cidade, condado, estado, região, CEP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178040" y="3154680"/>
            <a:ext cx="4526280" cy="2880360"/>
          </a:xfrm>
          <a:prstGeom prst="roundRect">
            <a:avLst>
              <a:gd name="adj" fmla="val 2540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406640" y="33467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dados reais?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406640" y="3803904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ao requisito obrigatório do enunciado (dados reais, não fictícios).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 variedade suficientes para um modelo dimensional não trivial.</a:t>
            </a:r>
            <a:endParaRPr lang="en-US" sz="13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Expõe problemas concretos de tratamento: datas em texto, percentuais como string, cidades homônimas.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4" name="Image 0" descr="ic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do Data Warehouse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estrela: 1 fato central (fato_rh) + 7 dimensões · snowflake na geografia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771900" y="2157984"/>
            <a:ext cx="2331720" cy="1568196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103620" y="2157984"/>
            <a:ext cx="2331720" cy="1568196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3035808"/>
            <a:ext cx="3406140" cy="690372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2697480" y="3726180"/>
            <a:ext cx="3406140" cy="589788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3954780" y="3726180"/>
            <a:ext cx="2148840" cy="1805940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03620" y="3726180"/>
            <a:ext cx="1234440" cy="1805940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103620" y="3035808"/>
            <a:ext cx="3360420" cy="690372"/>
          </a:xfrm>
          <a:prstGeom prst="line">
            <a:avLst/>
          </a:prstGeom>
          <a:noFill/>
          <a:ln w="19050">
            <a:solidFill>
              <a:srgbClr val="D7E1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92740" y="3374136"/>
            <a:ext cx="182880" cy="44805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75620" y="4498848"/>
            <a:ext cx="182880" cy="43891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1481328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FBF1DE"/>
          </a:solidFill>
          <a:ln w="15875">
            <a:solidFill>
              <a:srgbClr val="C985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43200" y="15544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743200" y="1847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 (FK1)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06640" y="1481328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FBF1DE"/>
          </a:solidFill>
          <a:ln w="15875">
            <a:solidFill>
              <a:srgbClr val="C985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06640" y="15544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06640" y="1847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nascimento (FK2)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" y="2697480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27706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dim_funcionario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· e-mail · SSN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0080" y="3977640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0080" y="405079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dim_genero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0080" y="4343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/ F / U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26080" y="5532120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926080" y="56052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dim_faixa_etaria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2926080" y="5897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idade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309360" y="5532120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309360" y="56052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dim_faixa_salarial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309360" y="5897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salário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464040" y="2697480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EAF2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464040" y="27706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dim_localizacao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9464040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· região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646920" y="3822192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EAF2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9646920" y="38953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dim_estado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9646920" y="4187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829800" y="4937760"/>
            <a:ext cx="2057400" cy="676656"/>
          </a:xfrm>
          <a:prstGeom prst="roundRect">
            <a:avLst>
              <a:gd name="adj" fmla="val 8108"/>
            </a:avLst>
          </a:prstGeom>
          <a:solidFill>
            <a:srgbClr val="EAF2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829800" y="50109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dim_pais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9829800" y="53035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074920" y="32461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074920" y="33375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fato_rh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074920" y="36667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1 funcionário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(degenerada)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29768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(2×)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4" name="Image 0" descr="ic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do Data Warehouse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avançados aplicados: o enunciado pede 2, o projeto entrega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5532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847088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0391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190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1737360" y="18653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enriquecida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737360" y="23957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dim_tempo guarda ano, semestre, trimestre, mês, dia da semana e flag de fim de semana — slicing temporal sem cálculo extra no BI.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6263640" y="1554480"/>
            <a:ext cx="5532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37960" y="1847088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_r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391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881360" y="17190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7498080" y="18653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498080" y="23957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dim_tempo é referenciada 2× pela fato (admissão e nascimento), sem duplicar a tabela calendário.</a:t>
            </a:r>
            <a:endParaRPr lang="en-US" sz="1280" dirty="0"/>
          </a:p>
        </p:txBody>
      </p:sp>
      <p:sp>
        <p:nvSpPr>
          <p:cNvPr id="21" name="Shape 16"/>
          <p:cNvSpPr/>
          <p:nvPr/>
        </p:nvSpPr>
        <p:spPr>
          <a:xfrm>
            <a:off x="502920" y="3749040"/>
            <a:ext cx="5532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041648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_sn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23367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39136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1737360" y="40599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737360" y="45902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geográfica normalizada em 3 tabelas: dim_localizacao → dim_estado → dim_pais, reduzindo redundância.</a:t>
            </a:r>
            <a:endParaRPr lang="en-US" sz="1280" dirty="0"/>
          </a:p>
        </p:txBody>
      </p:sp>
      <p:sp>
        <p:nvSpPr>
          <p:cNvPr id="27" name="Shape 21"/>
          <p:cNvSpPr/>
          <p:nvPr/>
        </p:nvSpPr>
        <p:spPr>
          <a:xfrm>
            <a:off x="6263640" y="3749040"/>
            <a:ext cx="5532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37960" y="4041648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ic_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423367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881360" y="39136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7498080" y="40599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degenerada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7498080" y="45902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emp_id (chave de negócio) fica direto na fato — preserva rastreabilidade até o sistema de origem.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4" name="Image 0" descr="ic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do Data Warehouse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4 schemas no PostgreSQL, com responsabilidades separadas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2670048" cy="37033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03604" y="187452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209397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2880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94360" y="326440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368503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bruto, tudo como TEXT. Fonte do ETL e histórico do dado original.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3154680" y="32506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pic>
        <p:nvPicPr>
          <p:cNvPr id="16" name="Image 2" descr="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3332988"/>
            <a:ext cx="237744" cy="2377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37560" y="1600200"/>
            <a:ext cx="2670048" cy="37033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38244" y="18745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ic_mod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93976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429000" y="2880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3429000" y="326440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566160" y="368503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estrela: 1 fato + 7 dimensões, já tratado e tipado.</a:t>
            </a:r>
            <a:endParaRPr lang="en-US" sz="1230" dirty="0"/>
          </a:p>
        </p:txBody>
      </p:sp>
      <p:sp>
        <p:nvSpPr>
          <p:cNvPr id="23" name="Shape 17"/>
          <p:cNvSpPr/>
          <p:nvPr/>
        </p:nvSpPr>
        <p:spPr>
          <a:xfrm>
            <a:off x="5989320" y="32506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pic>
        <p:nvPicPr>
          <p:cNvPr id="24" name="Image 4" descr="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3332988"/>
            <a:ext cx="237744" cy="23774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72200" y="1600200"/>
            <a:ext cx="2670048" cy="37033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072884" y="18745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5" descr="ic_m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2093976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263640" y="2880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datamart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6263640" y="326440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SEMÂNTICA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400800" y="368503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views analíticas prontas para o Power BI consumir.</a:t>
            </a:r>
            <a:endParaRPr lang="en-US" sz="1230" dirty="0"/>
          </a:p>
        </p:txBody>
      </p:sp>
      <p:sp>
        <p:nvSpPr>
          <p:cNvPr id="31" name="Shape 23"/>
          <p:cNvSpPr/>
          <p:nvPr/>
        </p:nvSpPr>
        <p:spPr>
          <a:xfrm>
            <a:off x="8823960" y="32506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pic>
        <p:nvPicPr>
          <p:cNvPr id="32" name="Image 6" descr="ic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6256" y="3332988"/>
            <a:ext cx="237744" cy="23774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9006840" y="1600200"/>
            <a:ext cx="2670048" cy="3703320"/>
          </a:xfrm>
          <a:prstGeom prst="roundRect">
            <a:avLst>
              <a:gd name="adj" fmla="val 2740"/>
            </a:avLst>
          </a:prstGeom>
          <a:solidFill>
            <a:srgbClr val="EAF2F6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9907524" y="1874520"/>
            <a:ext cx="868680" cy="8686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5" name="Image 7" descr="ic_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1552" y="2093976"/>
            <a:ext cx="420624" cy="42062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98280" y="2880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900" dirty="0"/>
          </a:p>
        </p:txBody>
      </p:sp>
      <p:sp>
        <p:nvSpPr>
          <p:cNvPr id="37" name="Text 27"/>
          <p:cNvSpPr/>
          <p:nvPr/>
        </p:nvSpPr>
        <p:spPr>
          <a:xfrm>
            <a:off x="9098280" y="326440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9235440" y="3685032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 + 3 roles do PostgreSQL — entrega extra, além do escopo.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pic>
        <p:nvPicPr>
          <p:cNvPr id="4" name="Image 0" descr="ic_e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de ETL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em SQL puro, idempotente: de repositorio.rh_raw até todas as tabelas do dw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4813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1" name="Image 1" descr="ic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texto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21214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em todos os campos, UPPER nos códigos de estado (" ca " → "CA").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4343400" y="14813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6" name="Image 2" descr="ic_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tipos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57800" y="21214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"MM/DD/YYYY" via TO_DATE; texto numérico via CAST para NUMERIC.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8183880" y="14813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0" y="17373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1" name="Image 3" descr="ic_mo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8745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percentual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98280" y="21214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"21%" tratado com REPLACE + NULLIF + CAST para virar número.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502920" y="30815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6" name="Image 4" descr="ic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747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264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17320" y="37216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dim_funcionario com GROUP BY emp_id + MIN garante unicidade por chave.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4343400" y="30815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72000" y="33375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31" name="Image 5" descr="ic_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4747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57800" y="3264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geográfica composta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257800" y="37216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(cidade, estado) evita unir Springfield-IL com Springfield-MA.</a:t>
            </a:r>
            <a:endParaRPr lang="en-US" sz="1130" dirty="0"/>
          </a:p>
        </p:txBody>
      </p:sp>
      <p:sp>
        <p:nvSpPr>
          <p:cNvPr id="34" name="Shape 26"/>
          <p:cNvSpPr/>
          <p:nvPr/>
        </p:nvSpPr>
        <p:spPr>
          <a:xfrm>
            <a:off x="8183880" y="30815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12480" y="33375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36" name="Image 6" descr="ic_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347472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098280" y="3264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Bucketização &amp; nulos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9098280" y="37216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via JOIN BETWEEN; registros sem emp_id/data/salário são filtrados.</a:t>
            </a:r>
            <a:endParaRPr lang="en-US" sz="1130" dirty="0"/>
          </a:p>
        </p:txBody>
      </p:sp>
      <p:sp>
        <p:nvSpPr>
          <p:cNvPr id="39" name="Shape 30"/>
          <p:cNvSpPr/>
          <p:nvPr/>
        </p:nvSpPr>
        <p:spPr>
          <a:xfrm>
            <a:off x="502920" y="498348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0" name="Image 7" descr="ic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285232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417320" y="5029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idempotente.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com DROP SCHEMA IF EXISTS … CASCADE em todos os schemas — pode ser reexecutado quantas vezes for preciso sem duplicar dados. Ideal para demonstração acadêmica com recargas sucessivas.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pic>
        <p:nvPicPr>
          <p:cNvPr id="4" name="Image 0" descr="ic_m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Mart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consumo do Power BI — 4 views, sendo o mínimo exigido apenas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7589520" cy="1060704"/>
          </a:xfrm>
          <a:prstGeom prst="roundRect">
            <a:avLst>
              <a:gd name="adj" fmla="val 6897"/>
            </a:avLst>
          </a:prstGeom>
          <a:solidFill>
            <a:srgbClr val="EAF2F6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ic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366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6733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vw_fato_rh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71600" y="2057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achatada principal — junta a fato com todas as dimensões. É a "tabela fato" do BI, com colunas em português e tipos corretos.</a:t>
            </a:r>
            <a:endParaRPr lang="en-US" sz="1220" dirty="0"/>
          </a:p>
        </p:txBody>
      </p:sp>
      <p:sp>
        <p:nvSpPr>
          <p:cNvPr id="13" name="Shape 9"/>
          <p:cNvSpPr/>
          <p:nvPr/>
        </p:nvSpPr>
        <p:spPr>
          <a:xfrm>
            <a:off x="502920" y="2706624"/>
            <a:ext cx="75895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ic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8254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vw_salario_por_estado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371600" y="32095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por estado: contagem de funcionários, salário médio, mínimo, máximo e folha total.</a:t>
            </a:r>
            <a:endParaRPr lang="en-US" sz="1220" dirty="0"/>
          </a:p>
        </p:txBody>
      </p:sp>
      <p:sp>
        <p:nvSpPr>
          <p:cNvPr id="17" name="Shape 12"/>
          <p:cNvSpPr/>
          <p:nvPr/>
        </p:nvSpPr>
        <p:spPr>
          <a:xfrm>
            <a:off x="502920" y="3858768"/>
            <a:ext cx="75895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ic_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879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9776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vw_admissoes_por_ano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371600" y="43616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admissões por ano e trimestre, com salário médio de entrada.</a:t>
            </a:r>
            <a:endParaRPr lang="en-US" sz="1220" dirty="0"/>
          </a:p>
        </p:txBody>
      </p:sp>
      <p:sp>
        <p:nvSpPr>
          <p:cNvPr id="21" name="Shape 15"/>
          <p:cNvSpPr/>
          <p:nvPr/>
        </p:nvSpPr>
        <p:spPr>
          <a:xfrm>
            <a:off x="502920" y="5010912"/>
            <a:ext cx="75895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ic_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512978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vw_faixa_genero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371600" y="55138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faixa salarial com gênero — base para análise de equidade.</a:t>
            </a:r>
            <a:endParaRPr lang="en-US" sz="1220" dirty="0"/>
          </a:p>
        </p:txBody>
      </p:sp>
      <p:sp>
        <p:nvSpPr>
          <p:cNvPr id="25" name="Shape 18"/>
          <p:cNvSpPr/>
          <p:nvPr/>
        </p:nvSpPr>
        <p:spPr>
          <a:xfrm>
            <a:off x="8275320" y="1554480"/>
            <a:ext cx="3429000" cy="4370832"/>
          </a:xfrm>
          <a:prstGeom prst="roundRect">
            <a:avLst>
              <a:gd name="adj" fmla="val 2133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850392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4 e não 1?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850392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comuns já vêm prontas, reduzindo a carga sobre o Power BI.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achatada evita expor o modelo estrela direto ao BI — menos relacionamentos, melhor performance, DAX mais simples.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em português e regra de negócio centralizada no banco.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pic>
        <p:nvPicPr>
          <p:cNvPr id="4" name="Image 0" descr="i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conectado ao PostgreSQL · 12 medidas DAX (mínimo: 10)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2920" y="1481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medidas DAX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1938528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" y="20939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Funcionários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825496" y="1938528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53512" y="20939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2953512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82696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Salarial Total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48072" y="1938528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20939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08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05272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265176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" y="28072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60120" y="2651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Mediano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825496" y="265176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53512" y="28072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5"/>
          <p:cNvSpPr/>
          <p:nvPr/>
        </p:nvSpPr>
        <p:spPr>
          <a:xfrm>
            <a:off x="2953512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282696" y="2651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Máximo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148072" y="265176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76088" y="28072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29"/>
          <p:cNvSpPr/>
          <p:nvPr/>
        </p:nvSpPr>
        <p:spPr>
          <a:xfrm>
            <a:off x="5276088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605272" y="2651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" y="3364992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0936" y="3520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3"/>
          <p:cNvSpPr/>
          <p:nvPr/>
        </p:nvSpPr>
        <p:spPr>
          <a:xfrm>
            <a:off x="630936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60120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Empresa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825496" y="3364992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953512" y="3520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/>
          <p:nvPr/>
        </p:nvSpPr>
        <p:spPr>
          <a:xfrm>
            <a:off x="2953512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282696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Aumento Médio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148072" y="3364992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276088" y="352044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41"/>
          <p:cNvSpPr/>
          <p:nvPr/>
        </p:nvSpPr>
        <p:spPr>
          <a:xfrm>
            <a:off x="5276088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605272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YoY %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02920" y="4078224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0936" y="42336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5"/>
          <p:cNvSpPr/>
          <p:nvPr/>
        </p:nvSpPr>
        <p:spPr>
          <a:xfrm>
            <a:off x="630936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960120" y="40782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Total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825496" y="4078224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953512" y="42336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2" name="Text 49"/>
          <p:cNvSpPr/>
          <p:nvPr/>
        </p:nvSpPr>
        <p:spPr>
          <a:xfrm>
            <a:off x="2953512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3282696" y="40782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Folha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148072" y="4078224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AF2F6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276088" y="423367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6" name="Text 53"/>
          <p:cNvSpPr/>
          <p:nvPr/>
        </p:nvSpPr>
        <p:spPr>
          <a:xfrm>
            <a:off x="5276088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605272" y="40782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Mulheres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726680" y="1874520"/>
            <a:ext cx="3977640" cy="4069080"/>
          </a:xfrm>
          <a:prstGeom prst="roundRect">
            <a:avLst>
              <a:gd name="adj" fmla="val 1839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7955280" y="2084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técnico</a:t>
            </a:r>
            <a:endParaRPr lang="en-US" sz="1700" dirty="0"/>
          </a:p>
        </p:txBody>
      </p:sp>
      <p:sp>
        <p:nvSpPr>
          <p:cNvPr id="60" name="Text 57"/>
          <p:cNvSpPr/>
          <p:nvPr/>
        </p:nvSpPr>
        <p:spPr>
          <a:xfrm>
            <a:off x="7955280" y="2606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nativo Power BI ↔ PostgreSQL, importando as 4 views do datamart.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vw_fato_rh configurada como tabela fato; as demais como agregadas independentes.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resolvido com USERELATIONSHIP no DAX para alternar entre data de admissão e de nascimento.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pic>
        <p:nvPicPr>
          <p:cNvPr id="4" name="Image 0" descr="i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5 páginas com navegação por sidebar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EAF2F6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34440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_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76072" y="28986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67512" y="3401568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com os 5 KPIs principais + donut de participação por gênero.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2761488" y="1572768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93008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011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61488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834640" y="28986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Geografia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2926080" y="3401568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estados por folha, tabela analítica e slicer por região.</a:t>
            </a:r>
            <a:endParaRPr lang="en-US" sz="1030" dirty="0"/>
          </a:p>
        </p:txBody>
      </p:sp>
      <p:sp>
        <p:nvSpPr>
          <p:cNvPr id="21" name="Shape 16"/>
          <p:cNvSpPr/>
          <p:nvPr/>
        </p:nvSpPr>
        <p:spPr>
          <a:xfrm>
            <a:off x="5020056" y="1572768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751576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0116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20056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93208" y="28986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184648" y="3401568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faixa etária × gênero, funil por faixa salarial, slicer.</a:t>
            </a:r>
            <a:endParaRPr lang="en-US" sz="1030" dirty="0"/>
          </a:p>
        </p:txBody>
      </p:sp>
      <p:sp>
        <p:nvSpPr>
          <p:cNvPr id="27" name="Shape 21"/>
          <p:cNvSpPr/>
          <p:nvPr/>
        </p:nvSpPr>
        <p:spPr>
          <a:xfrm>
            <a:off x="7278624" y="1572768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010144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ic_c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20116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78624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4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351776" y="28986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Temporal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443216" y="3401568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Linha/área de admissões por ano, matriz ano × trimestre.</a:t>
            </a:r>
            <a:endParaRPr lang="en-US" sz="1030" dirty="0"/>
          </a:p>
        </p:txBody>
      </p:sp>
      <p:sp>
        <p:nvSpPr>
          <p:cNvPr id="33" name="Shape 26"/>
          <p:cNvSpPr/>
          <p:nvPr/>
        </p:nvSpPr>
        <p:spPr>
          <a:xfrm>
            <a:off x="9537192" y="1572768"/>
            <a:ext cx="2194560" cy="2697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10268712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201168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37192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5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9610344" y="28986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o Projeto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701784" y="3401568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do grupo, fonte dos dados e diagrama do modelo.</a:t>
            </a:r>
            <a:endParaRPr lang="en-US" sz="1030" dirty="0"/>
          </a:p>
        </p:txBody>
      </p:sp>
      <p:sp>
        <p:nvSpPr>
          <p:cNvPr id="39" name="Shape 31"/>
          <p:cNvSpPr/>
          <p:nvPr/>
        </p:nvSpPr>
        <p:spPr>
          <a:xfrm>
            <a:off x="502920" y="457200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777240" y="4736592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 obrigatórias contempladas</a:t>
            </a:r>
            <a:endParaRPr lang="en-US" sz="1350" dirty="0"/>
          </a:p>
        </p:txBody>
      </p:sp>
      <p:pic>
        <p:nvPicPr>
          <p:cNvPr id="41" name="Image 6" descr="ic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248656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161288" y="5175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linha temporal</a:t>
            </a:r>
            <a:endParaRPr lang="en-US" sz="1100" dirty="0"/>
          </a:p>
        </p:txBody>
      </p:sp>
      <p:pic>
        <p:nvPicPr>
          <p:cNvPr id="43" name="Image 7" descr="ic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1528" y="5248656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374136" y="5175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</a:t>
            </a:r>
            <a:endParaRPr lang="en-US" sz="1100" dirty="0"/>
          </a:p>
        </p:txBody>
      </p:sp>
      <p:pic>
        <p:nvPicPr>
          <p:cNvPr id="45" name="Image 8" descr="ic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376" y="5248656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586984" y="5175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de participação</a:t>
            </a:r>
            <a:endParaRPr lang="en-US" sz="1100" dirty="0"/>
          </a:p>
        </p:txBody>
      </p:sp>
      <p:pic>
        <p:nvPicPr>
          <p:cNvPr id="47" name="Image 9" descr="ic_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5248656"/>
            <a:ext cx="237744" cy="23774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799832" y="5175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/ matrizes</a:t>
            </a:r>
            <a:endParaRPr lang="en-US" sz="1100" dirty="0"/>
          </a:p>
        </p:txBody>
      </p:sp>
      <p:pic>
        <p:nvPicPr>
          <p:cNvPr id="49" name="Image 10" descr="ic_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0072" y="5248656"/>
            <a:ext cx="237744" cy="237744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10012680" y="5175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com KPIs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pic>
        <p:nvPicPr>
          <p:cNvPr id="4" name="Image 0" descr="ic_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gerados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revelados pela análise sobre o dataset tratado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geográfica da folha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783080"/>
          <a:ext cx="6400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572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· NY · TX lideram — mas isso reflete sobretudo o volume de funcionários; o salário médio é mais equilibrado entre regiões.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0" y="1554480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EAF2F6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438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de gênero</a:t>
            </a:r>
            <a:endParaRPr lang="en-US" sz="14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7406640" y="205740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Shape 10"/>
          <p:cNvSpPr/>
          <p:nvPr/>
        </p:nvSpPr>
        <p:spPr>
          <a:xfrm>
            <a:off x="7315200" y="4480560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543800" y="45720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 salarial:  </a:t>
            </a:r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equilibrado entre homens e mulheres, mas com leve diferença salarial média quando se controla por faixa etária — sinal para investigação mais profunda.</a:t>
            </a:r>
            <a:endParaRPr lang="en-US" sz="1180" dirty="0"/>
          </a:p>
        </p:txBody>
      </p:sp>
      <p:sp>
        <p:nvSpPr>
          <p:cNvPr id="17" name="Text 12"/>
          <p:cNvSpPr/>
          <p:nvPr/>
        </p:nvSpPr>
        <p:spPr>
          <a:xfrm>
            <a:off x="548640" y="6126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ilustrativos dos padrões descritos na análise.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pic>
        <p:nvPicPr>
          <p:cNvPr id="4" name="Image 0" descr="ic_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gerados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25296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Demografia, sazonalidade de admissões e retenção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BI  ·  Data Warehouse de RH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faixa etária</a:t>
            </a:r>
            <a:endParaRPr lang="en-US" sz="14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783080"/>
          <a:ext cx="56692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4805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36-45 é a mais populosa; já 46-55 e 56-65 concentram os maiores salários médios — relação tempo de carreira × remuneração.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Admissões por trimestre</a:t>
            </a:r>
            <a:endParaRPr lang="en-US" sz="14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263640" y="178308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/>
          <p:nvPr/>
        </p:nvSpPr>
        <p:spPr>
          <a:xfrm>
            <a:off x="6400800" y="4480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concentra mais admissões — típico de empresas com planejamento anual de headcount.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1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86400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5285232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empresa: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indica retenção saudável, com uma cauda longa de funcionários de longo prazo (mais de 20 anos de casa).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0080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ilustrativos dos padrões descritos na análise.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16395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474720" cy="3474720"/>
          </a:xfrm>
          <a:prstGeom prst="ellipse">
            <a:avLst/>
          </a:prstGeom>
          <a:solidFill>
            <a:srgbClr val="16395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95528" y="12984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Warehouse completo, reprodutível e que excede todos os mínimos do enunciado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1639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1284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0574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1639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21284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566160" y="31272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avançados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49300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0574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1639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21284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355080" y="31272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no data mart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349300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20574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1639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21284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9144000" y="31272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DAX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0" y="349300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10634472" cy="1783080"/>
          </a:xfrm>
          <a:prstGeom prst="roundRect">
            <a:avLst>
              <a:gd name="adj" fmla="val 4103"/>
            </a:avLst>
          </a:prstGeom>
          <a:solidFill>
            <a:srgbClr val="16395B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4297680"/>
            <a:ext cx="10058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clara em 4 schemas (repositorio · dw · datamart · security), script de ETL idempotente e camada extra de segurança com 3 perfis de acesso tornam a solução profissional e reprodutível. A escolha de dados reais de RH permitiu explorar problemas concretos de tratamento e gerar insights efetivos sobre demografia, geografia e remuneração.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·  Gabriel Francisco · Pedro Vargas · Pedro Rebello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de RH - Projeto Final BI</dc:title>
  <dc:subject>PptxGenJS Presentation</dc:subject>
  <dc:creator>Grupo BI - CEUB</dc:creator>
  <cp:lastModifiedBy>Grupo BI - CEUB</cp:lastModifiedBy>
  <cp:revision>1</cp:revision>
  <dcterms:created xsi:type="dcterms:W3CDTF">2026-06-09T03:48:15Z</dcterms:created>
  <dcterms:modified xsi:type="dcterms:W3CDTF">2026-06-09T03:48:15Z</dcterms:modified>
</cp:coreProperties>
</file>